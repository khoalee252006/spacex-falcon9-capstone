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  —  Xin chào mọi người.</a:t>
            </a:r>
          </a:p>
          <a:p>
            <a:r>
              <a:t>My project is about SpaceX Falcon 9 rockets.  —  Dự án của tôi nói về tên lửa SpaceX Falcon 9.</a:t>
            </a:r>
          </a:p>
          <a:p>
            <a:r>
              <a:t>I want to predict if the first stage will land.  —  Tôi muốn dự đoán tầng một có hạ cánh được không.</a:t>
            </a:r>
          </a:p>
          <a:p>
            <a:r>
              <a:t>All my code is on GitHub.  —  Toàn bộ code của tôi có trên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my GitHub repository.  —  Slide này cho thấy kho GitHub của tôi.</a:t>
            </a:r>
          </a:p>
          <a:p>
            <a:r>
              <a:t>Each step has its own notebook.  —  Mỗi bước có một notebook riêng.</a:t>
            </a:r>
          </a:p>
          <a:p>
            <a:r>
              <a:t>You can click the links to see the code.  —  Bạn có thể bấm vào link để xem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plan of my talk.  —  Đây là kế hoạch bài trình bày của tôi.</a:t>
            </a:r>
          </a:p>
          <a:p>
            <a:r>
              <a:t>First, the summary and the problem.  —  Đầu tiên là tóm tắt và vấn đề.</a:t>
            </a:r>
          </a:p>
          <a:p>
            <a:r>
              <a:t>Then methods, results, and conclusion.  —  Sau đó là phương pháp, kết quả và kết luận.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collected real launch data from an API and Wikipedia.  —  Tôi thu thập dữ liệu phóng thật từ API và Wikipedia.</a:t>
            </a:r>
          </a:p>
          <a:p>
            <a:r>
              <a:t>Overall, 66.7% of first stages landed.  —  Nhìn chung, 66.7% tầng một đã hạ cánh.</a:t>
            </a:r>
          </a:p>
          <a:p>
            <a:r>
              <a:t>Landing success grew a lot over the years.  —  Tỉ lệ hạ cánh thành công tăng rất nhiều qua các năm.</a:t>
            </a:r>
          </a:p>
          <a:p>
            <a:r>
              <a:t>My best models reach 83.3% test accuracy.  —  Các mô hình tốt nhất đạt độ chính xác 83.3% trên tập kiểm 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SpaceX rockets cost about 62 million dollars.  —  Tên lửa SpaceX có giá khoảng 62 triệu đô la.</a:t>
            </a:r>
          </a:p>
          <a:p>
            <a:r>
              <a:t>Other companies cost 165 million dollars or more.  —  Các công ty khác tốn 165 triệu đô la trở lên.</a:t>
            </a:r>
          </a:p>
          <a:p>
            <a:r>
              <a:t>The big saving comes from reusing the first stage.  —  Khoản tiết kiệm lớn đến từ việc tái sử dụng tầng một.</a:t>
            </a:r>
          </a:p>
          <a:p>
            <a:r>
              <a:t>So we predict if the first stage will land.  —  Vì vậy chúng tôi dự đoán tầng một có hạ cánh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call the SpaceX API to get past launches.  —  Tôi gọi SpaceX API để lấy các lần phóng trước đây.</a:t>
            </a:r>
          </a:p>
          <a:p>
            <a:r>
              <a:t>Then I look up rocket, pad, payload and core details.  —  Sau đó tôi tra thông tin tên lửa, bệ phóng, tải trọng và lõi.</a:t>
            </a:r>
          </a:p>
          <a:p>
            <a:r>
              <a:t>I keep only Falcon 9 and save a clean table.  —  Tôi chỉ giữ Falcon 9 và lưu một bảng sạch.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download a Wikipedia page with launch tables.  —  Tôi tải một trang Wikipedia có các bảng phóng.</a:t>
            </a:r>
          </a:p>
          <a:p>
            <a:r>
              <a:t>BeautifulSoup reads the HTML tables.  —  BeautifulSoup đọc các bảng HTML.</a:t>
            </a:r>
          </a:p>
          <a:p>
            <a:r>
              <a:t>I get 121 launch rows and save them to CSV.  —  Tôi lấy được 121 dòng và lưu vào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check missing values first.  —  Đầu tiên tôi kiểm tra giá trị bị thiếu.</a:t>
            </a:r>
          </a:p>
          <a:p>
            <a:r>
              <a:t>Then I turn the landing outcome into a label called Class.  —  Sau đó tôi biến kết quả hạ cánh thành nhãn tên là Class.</a:t>
            </a:r>
          </a:p>
          <a:p>
            <a:r>
              <a:t>Class is 1 if the booster landed, and 0 if not.  —  Class bằng 1 nếu tầng đẩy hạ cánh, bằng 0 nếu không.</a:t>
            </a:r>
          </a:p>
          <a:p>
            <a:r>
              <a:t>The overall success rate is 66.7%.  —  Tỉ lệ thành công tổng thể là 66.7%.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use charts to find patterns.  —  Tôi dùng biểu đồ để tìm các quy luật.</a:t>
            </a:r>
          </a:p>
          <a:p>
            <a:r>
              <a:t>Scatter plots show how two things relate.  —  Biểu đồ phân tán cho thấy hai yếu tố liên quan thế nào.</a:t>
            </a:r>
          </a:p>
          <a:p>
            <a:r>
              <a:t>A bar chart compares orbits, and a line chart shows the trend by year.  —  Biểu đồ cột so sánh các quỹ đạo, biểu đồ đường cho thấy xu hướng theo năm.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load the launch table into SQLite.  —  Tôi nạp bảng phóng vào SQLite.</a:t>
            </a:r>
          </a:p>
          <a:p>
            <a:r>
              <a:t>Then I answer ten questions with SQL.  —  Sau đó tôi trả lời mười câu hỏi bằng SQL.</a:t>
            </a:r>
          </a:p>
          <a:p>
            <a:r>
              <a:t>I use DISTINCT, LIKE, SUM, AVG, MIN, GROUP BY and subqueries.  —  Tôi dùng DISTINCT, LIKE, SUM, AVG, MIN, GROUP BY và truy vấn 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Folium puts every launch on a map.  —  Folium đặt mỗi lần phóng lên bản đồ.</a:t>
            </a:r>
          </a:p>
          <a:p>
            <a:r>
              <a:t>Green markers mean landed, red markers mean not landed.  —  Điểm xanh là hạ cánh, điểm đỏ là không hạ cánh.</a:t>
            </a:r>
          </a:p>
          <a:p>
            <a:r>
              <a:t>The Dash app lets users filter by site and payload.  —  Ứng dụng Dash cho phép lọc theo bãi phóng và tải trọng.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split the data into training and test sets.  —  Tôi chia dữ liệu thành tập huấn luyện và tập kiểm tra.</a:t>
            </a:r>
          </a:p>
          <a:p>
            <a:r>
              <a:t>I scale the features and tune four models.  —  Tôi chuẩn hoá đặc trưng và tinh chỉnh bốn mô hình.</a:t>
            </a:r>
          </a:p>
          <a:p>
            <a:r>
              <a:t>GridSearchCV finds the best settings with ten folds.  —  GridSearchCV tìm thiết lập tốt nhất với mười phần.</a:t>
            </a:r>
          </a:p>
          <a:p>
            <a:r>
              <a:t>Then I compare accuracy on the test set.  —  Sau đó tôi so sánh độ chính xác trên tập kiểm 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dot is one launch.  —  Mỗi chấm là một lần phóng.</a:t>
            </a:r>
          </a:p>
          <a:p>
            <a:r>
              <a:t>Green dots appear more on the right side.  —  Chấm xanh xuất hiện nhiều hơn ở bên phải.</a:t>
            </a:r>
          </a:p>
          <a:p>
            <a:r>
              <a:t>So SpaceX gets better with more flights.  —  Vậy SpaceX tiến bộ hơn khi bay nhiều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CCAFS SLC 40 is used the most.  —  CCAFS SLC 40 được dùng nhiều nhất.</a:t>
            </a:r>
          </a:p>
          <a:p>
            <a:r>
              <a:t>Most early failures happened there.  —  Phần lớn thất bại ban đầu xảy ra ở đó.</a:t>
            </a:r>
          </a:p>
          <a:p>
            <a:r>
              <a:t>Later launches there are much better.  —  Các lần phóng sau ở đó tốt hơn nhiều.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Heavy payloads only fly from Florida.  —  Tải nặng chỉ phóng từ Florida.</a:t>
            </a:r>
          </a:p>
          <a:p>
            <a:r>
              <a:t>Vandenberg launches lighter payloads.  —  Vandenberg phóng tải nhẹ hơn.</a:t>
            </a:r>
          </a:p>
          <a:p>
            <a:r>
              <a:t>Heavy launches still land most of the time.  —  Các lần phóng nặng vẫn hạ cánh phần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bar is one orbit type.  —  Mỗi cột là một loại quỹ đạo.</a:t>
            </a:r>
          </a:p>
          <a:p>
            <a:r>
              <a:t>Some orbits have only one launch, so be careful.  —  Một số quỹ đạo chỉ có một lần phóng, nên cần cẩn thận.</a:t>
            </a:r>
          </a:p>
          <a:p>
            <a:r>
              <a:t>VLEO is high and GTO is low.  —  VLEO cao còn GTO thấp.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LEO, success comes after a few flights.  —  Ở LEO, thành công đến sau vài lần bay.</a:t>
            </a:r>
          </a:p>
          <a:p>
            <a:r>
              <a:t>In GTO, there is no clear pattern.  —  Ở GTO, không có quy luật rõ ràng.</a:t>
            </a:r>
          </a:p>
          <a:p>
            <a:r>
              <a:t>VLEO launches started late and went well.  —  Các lần phóng VLEO bắt đầu muộn và diễn ra tốt.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Heavy payloads to VLEO are fine.  —  Tải nặng lên VLEO thì ổn.</a:t>
            </a:r>
          </a:p>
          <a:p>
            <a:r>
              <a:t>Heavy payloads to GTO are harder.  —  Tải nặng lên GTO thì khó hơn.</a:t>
            </a:r>
          </a:p>
          <a:p>
            <a:r>
              <a:t>GTO needs more fuel, so less is left for landing.  —  GTO cần nhiều nhiên liệu, nên còn ít để hạ cánh.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line shows the success rate each year.  —  Đường này cho thấy tỉ lệ thành công mỗi năm.</a:t>
            </a:r>
          </a:p>
          <a:p>
            <a:r>
              <a:t>It goes up strongly after 2013.  —  Nó tăng mạnh sau năm 2013.</a:t>
            </a:r>
          </a:p>
          <a:p>
            <a:r>
              <a:t>SpaceX learned quickly.  —  SpaceX học hỏi rất nhanh.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four launch sites in the table.  —  Có bốn bãi phóng trong bảng.</a:t>
            </a:r>
          </a:p>
          <a:p>
            <a:r>
              <a:t>Three are in Florida and one is in California.  —  Ba bãi ở Florida và một bãi ở California.</a:t>
            </a:r>
          </a:p>
          <a:p>
            <a:r>
              <a:t>The first five CCA records are early flights.  —  Năm bản ghi CCA đầu tiên là các chuyến bay sớm.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NASA CRS missions carried about forty-five thousand kilograms in total.  —  Các sứ mệnh NASA CRS mang tổng cộng khoảng bốn mươi lăm nghìn kg.</a:t>
            </a:r>
          </a:p>
          <a:p>
            <a:r>
              <a:t>F9 v1.1 carried about two thousand nine hundred kilograms on average.  —  F9 v1.1 mang trung bình khoảng hai nghìn chín trăm kg.</a:t>
            </a:r>
          </a:p>
          <a:p>
            <a:r>
              <a:t>Only Block 5 boosters carried the maximum payload.  —  Chỉ các tầng đẩy Block 5 mang tải tối đa.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Almost every mission reached orbit.  —  Hầu như mọi sứ mệnh đều lên quỹ đạo.</a:t>
            </a:r>
          </a:p>
          <a:p>
            <a:r>
              <a:t>Only one mission failed in flight.  —  Chỉ có một sứ mệnh thất bại khi bay.</a:t>
            </a:r>
          </a:p>
          <a:p>
            <a:r>
              <a:t>Four boosters landed on a drone ship with medium payloads.  —  Bốn tầng đẩy hạ cánh trên tàu không người lái với tải trung bình.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query ranks landing outcomes in the early years.  —  Truy vấn này xếp hạng kết quả hạ cánh trong những năm đầu.</a:t>
            </a:r>
          </a:p>
          <a:p>
            <a:r>
              <a:t>No attempt is the most common result.  —  Không thử hạ cánh là kết quả phổ biến nhất.</a:t>
            </a:r>
          </a:p>
          <a:p>
            <a:r>
              <a:t>Drone ship success and failure are equal.  —  Thành công và thất bại trên tàu không người lái bằng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ground pad landing was in December 2015.  —  Lần hạ cánh trên bệ mặt đất đầu tiên là tháng 12 năm 2015.</a:t>
            </a:r>
          </a:p>
          <a:p>
            <a:r>
              <a:t>In 2015, two drone ship landings failed.  —  Năm 2015, có hai lần hạ cánh trên tàu thất bại.</a:t>
            </a:r>
          </a:p>
          <a:p>
            <a:r>
              <a:t>They were in January and April.  —  Chúng xảy ra vào tháng 1 và tháng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all four launch sites.  —  Đây là bốn bãi phóng.</a:t>
            </a:r>
          </a:p>
          <a:p>
            <a:r>
              <a:t>They are close to the coast.  —  Chúng nằm gần bờ biển.</a:t>
            </a:r>
          </a:p>
          <a:p>
            <a:r>
              <a:t>They are also in the south, near the equator.  —  Chúng cũng ở phía nam, gần xích đạo.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marker is one launch.  —  Mỗi điểm đánh dấu là một lần phóng.</a:t>
            </a:r>
          </a:p>
          <a:p>
            <a:r>
              <a:t>Green means landed and red means not landed.  —  Xanh nghĩa là hạ cánh, đỏ nghĩa là không hạ cánh.</a:t>
            </a:r>
          </a:p>
          <a:p>
            <a:r>
              <a:t>KSC LC-39A has the most green markers.  —  KSC LC-39A có nhiều điểm xanh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measure distances from the launch site.  —  Tôi đo khoảng cách từ bãi phóng.</a:t>
            </a:r>
          </a:p>
          <a:p>
            <a:r>
              <a:t>The coast and railway are very close.  —  Bờ biển và đường sắt rất gần.</a:t>
            </a:r>
          </a:p>
          <a:p>
            <a:r>
              <a:t>The city is far away for safety.  —  Thành phố ở xa để đảm bảo an toàn.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pie shows where the successful launches come from.  —  Biểu đồ tròn này cho thấy các lần thành công đến từ đâu.</a:t>
            </a:r>
          </a:p>
          <a:p>
            <a:r>
              <a:t>KSC LC-39A has the biggest share.  —  KSC LC-39A có phần lớn nhất.</a:t>
            </a:r>
          </a:p>
          <a:p>
            <a:r>
              <a:t>CCAFS SLC-40 has the smallest share.  —  CCAFS SLC-40 có phần nhỏ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pie is only for KSC LC-39A.  —  Biểu đồ tròn này chỉ dành cho KSC LC-39A.</a:t>
            </a:r>
          </a:p>
          <a:p>
            <a:r>
              <a:t>76.9% of its launches were successful.  —  76.9% số lần phóng ở đây thành công.</a:t>
            </a:r>
          </a:p>
          <a:p>
            <a:r>
              <a:t>It is the best site in this data.  —  Đây là bãi phóng tốt nhất trong dữ liệu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charts show payload and outcome together.  —  Các biểu đồ này cho thấy tải trọng và kết quả cùng nhau.</a:t>
            </a:r>
          </a:p>
          <a:p>
            <a:r>
              <a:t>Light and medium payloads succeed more often.  —  Tải nhẹ và trung bình thành công thường xuyên hơn.</a:t>
            </a:r>
          </a:p>
          <a:p>
            <a:r>
              <a:t>The FT booster version has the best success rate.  —  Phiên bản tầng đẩy FT có tỉ lệ thành công tốt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tested four models.  —  Tôi đã thử bốn mô hình.</a:t>
            </a:r>
          </a:p>
          <a:p>
            <a:r>
              <a:t>Three models tie at 83.3% on the test set.  —  Ba mô hình hoà nhau ở mức 83.3% trên tập kiểm tra.</a:t>
            </a:r>
          </a:p>
          <a:p>
            <a:r>
              <a:t>SVM has the best validation score.  —  SVM có điểm kiểm định tốt nhất.</a:t>
            </a:r>
          </a:p>
          <a:p>
            <a:r>
              <a:t>The decision tree is the weakest on the test set.  —  Cây quyết định yếu nhất trên tập kiểm 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 set has 18 launches.  —  Tập kiểm tra có 18 lần phóng.</a:t>
            </a:r>
          </a:p>
          <a:p>
            <a:r>
              <a:t>All landed boosters are predicted correctly by three models.  —  Ba mô hình dự đoán đúng tất cả tầng đẩy đã hạ cánh.</a:t>
            </a:r>
          </a:p>
          <a:p>
            <a:r>
              <a:t>The problem is false positives.  —  Vấn đề là dương tính giả.</a:t>
            </a:r>
          </a:p>
          <a:p>
            <a:r>
              <a:t>Some failed landings are predicted as landed.  —  Một số lần hạ cánh thất bại bị dự đoán là đã hạ cánh.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test set, three models are equal.  —  Trên tập kiểm tra, ba mô hình bằng nhau.</a:t>
            </a:r>
          </a:p>
          <a:p>
            <a:r>
              <a:t>The test set is small, so this tie is not surprising.  —  Tập kiểm tra nhỏ nên việc hoà không có gì lạ.</a:t>
            </a:r>
          </a:p>
          <a:p>
            <a:r>
              <a:t>SVM is a little better in cross validation.  —  SVM tốt hơn một chút khi kiểm định chéo.</a:t>
            </a:r>
          </a:p>
          <a:p>
            <a:r>
              <a:t>So I choose SVM, but the difference is small.  —  Vì vậy tôi chọn SVM, nhưng khác biệt là nhỏ.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of the 30 failures were not real failures.  —  21 trong 30 lần thất bại không phải thất bại thật.</a:t>
            </a:r>
          </a:p>
          <a:p>
            <a:r>
              <a:t>SpaceX did not even try to land.  —  SpaceX thậm chí không thử hạ cánh.</a:t>
            </a:r>
          </a:p>
          <a:p>
            <a:r>
              <a:t>When they tried, 87% landed.  —  Khi họ thử, 87% đã hạ cánh.</a:t>
            </a:r>
          </a:p>
          <a:p>
            <a:r>
              <a:t>So the key question is: will they try to land?  —  Vậy câu hỏi chính là: họ có thử hạ cánh không?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SpaceX improved very fast over the years.  —  SpaceX tiến bộ rất nhanh qua các năm.</a:t>
            </a:r>
          </a:p>
          <a:p>
            <a:r>
              <a:t>Orbit, payload and experience affect landing.  —  Quỹ đạo, tải trọng và kinh nghiệm ảnh hưởng đến hạ cánh.</a:t>
            </a:r>
          </a:p>
          <a:p>
            <a:r>
              <a:t>Our models predict landing with about eighty-three percent accuracy.  —  Mô hình của chúng tôi dự đoán hạ cánh với độ chính xác khoảng tám mươi ba phần trăm.</a:t>
            </a:r>
          </a:p>
          <a:p>
            <a:r>
              <a:t>My advice: first predict if SpaceX will try to land.  —  Lời khuyên của tôi: hãy dự đoán trước SpaceX có thử hạ cánh không.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my data sources.  —  Slide này liệt kê các nguồn dữ liệu của tôi.</a:t>
            </a:r>
          </a:p>
          <a:p>
            <a:r>
              <a:t>The SpaceX API was down, so I used saved copies of the same data.  —  SpaceX API bị lỗi nên tôi dùng bản lưu của cùng dữ liệu đó.</a:t>
            </a:r>
          </a:p>
          <a:p>
            <a:r>
              <a:t>Everything is in the GitHub repository.  —  Mọi thứ đều có trong kho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" TargetMode="External"/><Relationship Id="rId3" Type="http://schemas.openxmlformats.org/officeDocument/2006/relationships/notesSlide" Target="../notesSlides/notesSlide2.xml"/><Relationship Id="rId4" Type="http://schemas.openxmlformats.org/officeDocument/2006/relationships/hyperlink" Target="https://github.com/khoalee252006/spacex-falcon9-capstone/blob/main/notebooks/01_data_collection_api.ipynb" TargetMode="External"/><Relationship Id="rId5" Type="http://schemas.openxmlformats.org/officeDocument/2006/relationships/hyperlink" Target="https://github.com/khoalee252006/spacex-falcon9-capstone/blob/main/notebooks/02_data_collection_webscraping.ipynb" TargetMode="External"/><Relationship Id="rId6" Type="http://schemas.openxmlformats.org/officeDocument/2006/relationships/hyperlink" Target="https://github.com/khoalee252006/spacex-falcon9-capstone/blob/main/notebooks/03_data_wrangling.ipynb" TargetMode="External"/><Relationship Id="rId7" Type="http://schemas.openxmlformats.org/officeDocument/2006/relationships/hyperlink" Target="https://github.com/khoalee252006/spacex-falcon9-capstone/blob/main/notebooks/04_eda_visualization.ipynb" TargetMode="External"/><Relationship Id="rId8" Type="http://schemas.openxmlformats.org/officeDocument/2006/relationships/hyperlink" Target="https://github.com/khoalee252006/spacex-falcon9-capstone/blob/main/notebooks/05_eda_sql.ipynb" TargetMode="External"/><Relationship Id="rId9" Type="http://schemas.openxmlformats.org/officeDocument/2006/relationships/hyperlink" Target="https://github.com/khoalee252006/spacex-falcon9-capstone/blob/main/notebooks/06_interactive_folium_map.ipynb" TargetMode="External"/><Relationship Id="rId10" Type="http://schemas.openxmlformats.org/officeDocument/2006/relationships/hyperlink" Target="https://github.com/khoalee252006/spacex-falcon9-capstone/blob/main/notebooks/07_dash_app.py" TargetMode="External"/><Relationship Id="rId11" Type="http://schemas.openxmlformats.org/officeDocument/2006/relationships/hyperlink" Target="https://github.com/khoalee252006/spacex-falcon9-capstone/blob/main/notebooks/08_predictive_analysis.ipynb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1_data_collection_api.ipynb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2_data_collection_webscraping.ipynb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3_data_wrangling.ipynb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4_eda_visualization.ipynb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5_eda_sql.ipynb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khoalee252006/spacex-falcon9-capstone/blob/main/notebooks/06_interactive_folium_map.ipynb" TargetMode="External"/><Relationship Id="rId4" Type="http://schemas.openxmlformats.org/officeDocument/2006/relationships/hyperlink" Target="https://github.com/khoalee252006/spacex-falcon9-capstone/blob/main/notebooks/07_dash_app.py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8_predictive_analysis.ipynb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4_eda_visualization.ipynb" TargetMode="Externa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4_eda_visualization.ipynb" TargetMode="External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4_eda_visualization.ipynb" TargetMode="Externa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4_eda_visualization.ipynb" TargetMode="Externa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4_eda_visualization.ipynb" TargetMode="Externa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4_eda_visualization.ipynb" TargetMode="External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4_eda_visualization.ipynb" TargetMode="Externa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5_eda_sql.ipynb" TargetMode="Externa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5_eda_sql.ipynb" TargetMode="Externa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5_eda_sql.ipynb" TargetMode="Externa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5_eda_sql.ipynb" TargetMode="Externa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5_eda_sql.ipynb" TargetMode="Externa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6_interactive_folium_map.ipynb" TargetMode="External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6_interactive_folium_map.ipynb" TargetMode="External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6_interactive_folium_map.ipynb" TargetMode="External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7_dash_app.py" TargetMode="External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7_dash_app.py" TargetMode="External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7_dash_app.py" TargetMode="External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8_predictive_analysis.ipynb" TargetMode="External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8_predictive_analysis.ipynb" TargetMode="External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8_predictive_analysis.ipynb" TargetMode="Externa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/blob/main/notebooks/08_predictive_analysis.ipynb" TargetMode="External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" TargetMode="Externa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khoalee252006/spacex-falcon9-capstone" TargetMode="Externa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965960"/>
            <a:ext cx="109728" cy="1828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972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A261"/>
                </a:solidFill>
                <a:latin typeface="Segoe UI"/>
              </a:rPr>
              <a:t>IBM APPLIED DATA SCIENCE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Data Science Capstone 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CBD5E1"/>
                </a:solidFill>
                <a:latin typeface="Segoe UI"/>
              </a:rPr>
              <a:t>Predicting whether the SpaceX Falcon 9 first stage will land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34340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Author: </a:t>
            </a:r>
            <a:r>
              <a:rPr sz="1600" b="0">
                <a:solidFill>
                  <a:srgbClr val="FFFFFF"/>
                </a:solidFill>
                <a:latin typeface="Segoe UI"/>
              </a:rPr>
              <a:t>khoalee252006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Date: </a:t>
            </a:r>
            <a:r>
              <a:rPr sz="1600" b="0">
                <a:solidFill>
                  <a:srgbClr val="FFFFFF"/>
                </a:solidFill>
                <a:latin typeface="Segoe UI"/>
              </a:rPr>
              <a:t>October 23,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5257800"/>
            <a:ext cx="694944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257800"/>
            <a:ext cx="67665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  <a:hlinkClick r:id="rId2"/>
              </a:rPr>
              <a:t>GitHub: </a:t>
            </a:r>
            <a:r>
              <a:rPr sz="1600" b="0">
                <a:solidFill>
                  <a:srgbClr val="1F2937"/>
                </a:solidFill>
                <a:latin typeface="Segoe UI"/>
                <a:hlinkClick r:id="rId2"/>
              </a:rPr>
              <a:t>https://github.com/khoalee252006/spacex-falcon9-capstone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Project 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A6F97"/>
                </a:solidFill>
                <a:latin typeface="Segoe UI"/>
                <a:hlinkClick r:id="rId2"/>
              </a:rPr>
              <a:t>Repository:  </a:t>
            </a:r>
            <a:r>
              <a:rPr sz="20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411480" cy="384048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411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33832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Data Collection – SpaceX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72237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A6F97"/>
                </a:solidFill>
                <a:latin typeface="Segoe UI"/>
                <a:hlinkClick r:id="rId4"/>
              </a:rPr>
              <a:t>https://github.com/khoalee252006/spacex-falcon9-capstone/blob/main/notebooks/01_data_collection_api.ipynb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7168"/>
            <a:ext cx="411480" cy="384048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87168"/>
            <a:ext cx="411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87168"/>
            <a:ext cx="33832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Data Collection – Web Scraping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87168"/>
            <a:ext cx="72237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A6F97"/>
                </a:solidFill>
                <a:latin typeface="Segoe UI"/>
                <a:hlinkClick r:id="rId5"/>
              </a:rPr>
              <a:t>https://github.com/khoalee252006/spacex-falcon9-capstone/blob/main/notebooks/02_data_collection_webscraping.ipynb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62656"/>
            <a:ext cx="411480" cy="384048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62656"/>
            <a:ext cx="411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62656"/>
            <a:ext cx="33832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Data Wrangling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62656"/>
            <a:ext cx="72237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A6F97"/>
                </a:solidFill>
                <a:latin typeface="Segoe UI"/>
                <a:hlinkClick r:id="rId6"/>
              </a:rPr>
              <a:t>https://github.com/khoalee252006/spacex-falcon9-capstone/blob/main/notebooks/03_data_wrangling.ipynb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38144"/>
            <a:ext cx="411480" cy="384048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38144"/>
            <a:ext cx="411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438144"/>
            <a:ext cx="33832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EDA with Data 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438144"/>
            <a:ext cx="72237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A6F97"/>
                </a:solidFill>
                <a:latin typeface="Segoe UI"/>
                <a:hlinkClick r:id="rId7"/>
              </a:rPr>
              <a:t>https://github.com/khoalee252006/spacex-falcon9-capstone/blob/main/notebooks/04_eda_visualization.ipynb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411480" cy="384048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13632"/>
            <a:ext cx="411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13632"/>
            <a:ext cx="33832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EDA with 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13632"/>
            <a:ext cx="72237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A6F97"/>
                </a:solidFill>
                <a:latin typeface="Segoe UI"/>
                <a:hlinkClick r:id="rId8"/>
              </a:rPr>
              <a:t>https://github.com/khoalee252006/spacex-falcon9-capstone/blob/main/notebooks/05_eda_sql.ipynb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89120"/>
            <a:ext cx="411480" cy="384048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411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89120"/>
            <a:ext cx="33832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Interactive Map with Folium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389120"/>
            <a:ext cx="72237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A6F97"/>
                </a:solidFill>
                <a:latin typeface="Segoe UI"/>
                <a:hlinkClick r:id="rId9"/>
              </a:rPr>
              <a:t>https://github.com/khoalee252006/spacex-falcon9-capstone/blob/main/notebooks/06_interactive_folium_map.ipynb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64608"/>
            <a:ext cx="411480" cy="384048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64608"/>
            <a:ext cx="411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864608"/>
            <a:ext cx="33832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Plotly Dash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864608"/>
            <a:ext cx="72237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A6F97"/>
                </a:solidFill>
                <a:latin typeface="Segoe UI"/>
                <a:hlinkClick r:id="rId10"/>
              </a:rPr>
              <a:t>https://github.com/khoalee252006/spacex-falcon9-capstone/blob/main/notebooks/07_dash_app.py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40096"/>
            <a:ext cx="411480" cy="384048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340096"/>
            <a:ext cx="411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40096"/>
            <a:ext cx="33832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Predictive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340096"/>
            <a:ext cx="72237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A6F97"/>
                </a:solidFill>
                <a:latin typeface="Segoe UI"/>
                <a:hlinkClick r:id="rId11"/>
              </a:rPr>
              <a:t>https://github.com/khoalee252006/spacex-falcon9-capstone/blob/main/notebooks/08_predictive_analysis.ipynb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Executive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95728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395728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Introduction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36976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36976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36976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Methodology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78224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78224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078224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Results: EDA with Visualization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1947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19472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919472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Results: EDA with 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54480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554480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Results: Launch Sites Proximity (Folium)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395728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395728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395728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Results: Dashboard (Plotly Dash)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236976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236976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236976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Results: Predictive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078224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078224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78224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Conclusion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91947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919472"/>
            <a:ext cx="5486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9D8F"/>
                </a:solidFill>
                <a:latin typeface="Segoe U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919472"/>
            <a:ext cx="411480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2545"/>
                </a:solidFill>
                <a:latin typeface="Segoe UI"/>
              </a:rPr>
              <a:t>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212080" cy="4343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484632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9D8F"/>
                </a:solidFill>
                <a:latin typeface="Segoe UI"/>
              </a:rPr>
              <a:t>Methods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Data collection: SpaceX REST API + web scraping (Wikipedia)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Data wrangling: missing values, landing label Class (1 / 0), one-hot encoding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EDA: pandas, matplotlib / seaborn charts and SQL (SQLite)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Interactive analytics: Folium map and Plotly Dash dashboard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Machine learning: Logistic Regression, SVM, Decision Tree, KNN with GridSearchCV (cv = 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5605272" cy="434340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463040"/>
            <a:ext cx="52578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9D8F"/>
                </a:solidFill>
                <a:latin typeface="Segoe UI"/>
              </a:rPr>
              <a:t>Key results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90 Falcon 9 launches (2010–2020); 60 landed = 66.7% success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Success grew from 0% (2010–2013) to 90% in 2019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Best common orbit: VLEO 86%; weakest: GTO 52%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When a landing was attempted, 87.0% succeeded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Logistic Regression, SVM, KNN: 83.3% test accuracy (tie); SVM has the best validation accuracy (84.8%)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85216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A9D8F"/>
                </a:solidFill>
                <a:latin typeface="Segoe UI"/>
              </a:rPr>
              <a:t>Background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600" b="0">
                <a:solidFill>
                  <a:srgbClr val="1F2937"/>
                </a:solidFill>
                <a:latin typeface="Segoe UI"/>
              </a:rPr>
              <a:t>SpaceX advertises Falcon 9 launches at about $62 million.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600" b="0">
                <a:solidFill>
                  <a:srgbClr val="1F2937"/>
                </a:solidFill>
                <a:latin typeface="Segoe UI"/>
              </a:rPr>
              <a:t>Other providers charge $165 million or more per launch.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600" b="0">
                <a:solidFill>
                  <a:srgbClr val="1F2937"/>
                </a:solidFill>
                <a:latin typeface="Segoe UI"/>
              </a:rPr>
              <a:t>Most of the saving comes from landing and reusing the first stage.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600" b="0">
                <a:solidFill>
                  <a:srgbClr val="1F2937"/>
                </a:solidFill>
                <a:latin typeface="Segoe UI"/>
              </a:rPr>
              <a:t>A new company ("Space Y") wants to bid against SpaceX.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2A9D8F"/>
                </a:solidFill>
                <a:latin typeface="Segoe UI"/>
              </a:rPr>
              <a:t>Problem statement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600" b="0">
                <a:solidFill>
                  <a:srgbClr val="1F2937"/>
                </a:solidFill>
                <a:latin typeface="Segoe UI"/>
              </a:rPr>
              <a:t>Can we predict if the Falcon 9 first stage will land successfully?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600" b="0">
                <a:solidFill>
                  <a:srgbClr val="1F2937"/>
                </a:solidFill>
                <a:latin typeface="Segoe UI"/>
              </a:rPr>
              <a:t>If yes, we can estimate the real cost of a launch.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371600"/>
            <a:ext cx="4873752" cy="429768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508760"/>
            <a:ext cx="438912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F4A261"/>
                </a:solidFill>
                <a:latin typeface="Segoe UI"/>
              </a:rPr>
              <a:t>Questions we answer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•  </a:t>
            </a:r>
            <a:r>
              <a:rPr sz="1600" b="0">
                <a:solidFill>
                  <a:srgbClr val="FFFFFF"/>
                </a:solidFill>
                <a:latin typeface="Segoe UI"/>
              </a:rPr>
              <a:t>How do payload mass, orbit, launch site and flight number affect landing?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•  </a:t>
            </a:r>
            <a:r>
              <a:rPr sz="1600" b="0">
                <a:solidFill>
                  <a:srgbClr val="FFFFFF"/>
                </a:solidFill>
                <a:latin typeface="Segoe UI"/>
              </a:rPr>
              <a:t>Did landing success improve over time?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•  </a:t>
            </a:r>
            <a:r>
              <a:rPr sz="1600" b="0">
                <a:solidFill>
                  <a:srgbClr val="FFFFFF"/>
                </a:solidFill>
                <a:latin typeface="Segoe UI"/>
              </a:rPr>
              <a:t>Where are the launch sites, and why there?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•  </a:t>
            </a:r>
            <a:r>
              <a:rPr sz="1600" b="0">
                <a:solidFill>
                  <a:srgbClr val="FFFFFF"/>
                </a:solidFill>
                <a:latin typeface="Segoe UI"/>
              </a:rPr>
              <a:t>Which machine-learning model predicts landing best?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Data Collection – SpaceX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https://github.com/khoalee252006/spacex-falcon9-capstone/blob/main/notebooks/01_data_collection_api.ipynb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GET /v4/launches/past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0012" y="18699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6044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json_normalize → DataFrame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7417" y="18699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3449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Look up rockets, launchpads, payloads, cores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4821" y="18699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0853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Keep Falcon 9 (1 core, 1 payload, ≤ 13 Nov 2020)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2226" y="18699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8258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Save CSV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(90 rows × 17 columns)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566928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9D8F"/>
                </a:solidFill>
                <a:latin typeface="Segoe UI"/>
              </a:rPr>
              <a:t>Key phrases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requests.get() → JSON response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pd.json_normalize() to flatten the JSON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Helper look-ups: BoosterVersion, LaunchSite, PayloadMass, Orbit, Outcome, Block, Serial…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Missing PayloadMass (5) → filled with mean (6,123.55 kg)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880360"/>
            <a:ext cx="5148072" cy="2697480"/>
          </a:xfrm>
          <a:prstGeom prst="roundRect">
            <a:avLst>
              <a:gd name="adj" fmla="val 12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80"/>
            <a:ext cx="4846320" cy="2606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5F06"/>
                </a:solidFill>
                <a:latin typeface="Segoe UI"/>
              </a:rPr>
              <a:t>Note on data source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300" b="0">
                <a:solidFill>
                  <a:srgbClr val="1F2937"/>
                </a:solidFill>
                <a:latin typeface="Segoe UI"/>
              </a:rPr>
              <a:t>The live API returned HTTP 522/525 errors (server down) in Oct 2026.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300" b="0">
                <a:solidFill>
                  <a:srgbClr val="1F2937"/>
                </a:solidFill>
                <a:latin typeface="Segoe UI"/>
              </a:rPr>
              <a:t>The code tries the live API first, then falls back to saved copies of the same API responses: IBM's static launch JSON + archived responses (web.archive.org).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300" b="0">
                <a:solidFill>
                  <a:srgbClr val="1F2937"/>
                </a:solidFill>
                <a:latin typeface="Segoe UI"/>
              </a:rPr>
              <a:t>Check: 15 of 17 columns are identical to IBM's reference dataset_part_1.csv.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Data Collection – Web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https://github.com/khoalee252006/spacex-falcon9-capstone/blob/main/notebooks/02_data_collection_webscraping.ipynb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requests.get() Wikipedia page (oldid = 1027686922)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0012" y="18699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6044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BeautifulSoup(html)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7417" y="18699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3449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find_all tables "wikitable plainrowheaders collapsible"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4821" y="18699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0853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Read column names + each launch row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2226" y="18699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8258" y="1463040"/>
            <a:ext cx="1984796" cy="10515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DataFrame → save CSV</a:t>
            </a:r>
          </a:p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(121 rows)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11094415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9D8F"/>
                </a:solidFill>
                <a:latin typeface="Segoe UI"/>
              </a:rPr>
              <a:t>Key phrases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Page: "List of Falcon 9 and Falcon Heavy launches" – fixed old revision used by the IBM lab (June 2021), so results repeat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9 launch tables found; flight number is in the &lt;th&gt; cell, other values in &lt;td&gt; cells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Columns: Flight No., Date, Time, Version Booster, Launch site, Payload, Payload mass, Orbit, Customer, Launch outcome, Booster landing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Cleaning: remove footnote marks like [12], parse "4,700 kg" → 4700, parse dates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Result: 121 launches from 04 Jun 2010 to 06 Jun 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Data Wrangling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https://github.com/khoalee252006/spacex-falcon9-capstone/blob/main/notebooks/03_data_wrangling.ipynb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984796" cy="7772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Load dataset_part_1.csv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0012" y="16413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6044" y="1371600"/>
            <a:ext cx="1984796" cy="7772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Missing values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7417" y="16413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3449" y="1371600"/>
            <a:ext cx="1984796" cy="7772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Count launches per site / orbit / outcome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4821" y="16413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0853" y="1371600"/>
            <a:ext cx="1984796" cy="7772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Outcome → Class (1 / 0)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2226" y="164134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8258" y="1371600"/>
            <a:ext cx="1984796" cy="7772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One-hot encode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576072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PayloadMass: 5 missing → replaced by mean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LandingPad: 26 missing (28.9%) → kept, means "no landing pad used"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Good outcomes (Class = 1): True ASDS (drone ship), True RTLS (ground pad), True Ocean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Bad outcomes (Class = 0): False ASDS / RTLS / Ocean, None ASDS, None None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1">
                <a:solidFill>
                  <a:srgbClr val="1F2937"/>
                </a:solidFill>
                <a:latin typeface="Segoe UI"/>
              </a:rPr>
              <a:t>Success rate = mean(Class) = 66.7%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Output: dataset_part_2.csv (+ Class) and dataset_part_3.csv (80 numeric features)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766560" y="2423160"/>
          <a:ext cx="484632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188720"/>
              </a:tblGrid>
              <a:tr h="3291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Outcome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Launches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Class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True ASDS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None 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True RTLS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False ASDS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True Ocean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False Ocean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None ASDS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False RTLS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EDA with 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https://github.com/khoalee252006/spacex-falcon9-capstone/blob/main/notebooks/04_eda_visualization.ipynb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023360"/>
                <a:gridCol w="5422392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Chart type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Chart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 we use it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Scatter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Flight Number vs. Payload Mass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Does experience or payload change landing?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Scatter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Flight Number vs. Launch Site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Do sites improve over time?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Scatter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Payload Mass vs. Launch Site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Which site handles heavy payloads?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 Rate by Orbit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Which orbit is easiest to land from?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Scatter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Flight Number vs. Orbit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Does each orbit improve with flights?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Scatter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Payload Mass vs. Orbit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Is heavy payload a problem in some orbits?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Line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Yearly Success Trend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Is SpaceX getting better each year?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C677D"/>
                </a:solidFill>
                <a:latin typeface="Segoe UI"/>
              </a:rPr>
              <a:t>Points are colored by Class: green = landed, red = not landed. Tools: pandas, matplotlib, seaborn.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EDA with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https://github.com/khoalee252006/spacex-falcon9-capstone/blob/main/notebooks/05_eda_sql.ipynb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16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6309360"/>
                <a:gridCol w="4233672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Question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SQL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Unique launch sites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SELECT DISTINCT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 records with site starting 'CCA'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LIKE 'CCA%' LIMIT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Total payload for NASA (CRS)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SUM()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Average payload of F9 v1.1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AVG()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First successful ground-pad landing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MIN(Date)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Drone-ship success, payload 4000–6000 kg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AND, &gt; &lt;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Count of mission successes / failures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COUNT(*) GROUP BY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Boosters with maximum payload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subquery MAX()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2015 drone-ship failures by month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substr(Date)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Rank landing outcomes 2010-06-04 → 2017-03-20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BETWEEN, ORDER BY DESC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C677D"/>
                </a:solidFill>
                <a:latin typeface="Segoe UI"/>
              </a:rPr>
              <a:t>Data: IBM course table Spacex.csv (101 Falcon 9 launches) loaded into SQLite with pandas.to_sql().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Interactive Visual Analytics – Folium &amp; Plotly Dash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SpaceX Falcon 9 – Data Science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22392" cy="4160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502920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9D8F"/>
                </a:solidFill>
                <a:latin typeface="Segoe UI"/>
              </a:rPr>
              <a:t>Folium map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folium.Circle + Marker: each launch site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MarkerCluster: green = landed, red = not landed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MousePosition: read coordinates on the map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PolyLine + distance label: site → coast, railway, highway, city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Nearest features found with OpenStreetMap (Overpass API) + haversine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542239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3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3"/>
              </a:rPr>
              <a:t>https://github.com/khoalee252006/spacex-falcon9-capstone/blob/main/notebooks/06_interactive_folium_map.ipynb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22392" cy="4160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02920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9D8F"/>
                </a:solidFill>
                <a:latin typeface="Segoe UI"/>
              </a:rPr>
              <a:t>Plotly Dash dashboard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Dropdown: All sites or one launch site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Pie chart: successful launches by site / success vs. failure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RangeSlider: choose a payload range (kg)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Scatter: payload vs. launch outcome, colored by booster version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Callbacks update the charts when the user changes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669280"/>
            <a:ext cx="542239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4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4"/>
              </a:rPr>
              <a:t>https://github.com/khoalee252006/spacex-falcon9-capstone/blob/main/notebooks/07_dash_app.py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Predictive Analysis –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https://github.com/khoalee252006/spacex-falcon9-capstone/blob/main/notebooks/08_predictive_analysis.ipynb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984796" cy="12801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X = 80 features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Y = Class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70012" y="193852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26044" y="1417320"/>
            <a:ext cx="1984796" cy="12801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train_test_split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80 / 20, random_state = 2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(72 / 18)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7417" y="193852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03449" y="1417320"/>
            <a:ext cx="1984796" cy="12801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StandardScaler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(fit on train)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4821" y="193852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80853" y="1417320"/>
            <a:ext cx="1984796" cy="12801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GridSearchCV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cv = 10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 models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2226" y="1938528"/>
            <a:ext cx="219456" cy="237744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8258" y="1417320"/>
            <a:ext cx="1984796" cy="128016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Best params →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test accuracy +</a:t>
            </a:r>
          </a:p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confusion matrix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017520"/>
          <a:ext cx="1109167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31352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Parameters searched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 = 0.01, 0.1, 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SVM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kernel = linear / rbf / poly / sigmoid; C, gamma = logspace(-3, 3, 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criterion, splitter, max_depth 2–18, max_features, min_samples_leaf / split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n_neighbors 1–10, algorithm, p = 1 / 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C677D"/>
                </a:solidFill>
                <a:latin typeface="Segoe UI"/>
              </a:rPr>
              <a:t>Extra check: the test set has only 18 launches, so we also run 10-fold stratified cross-validation on all 90 launches.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INSIGHTS DRAWN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Flight Number vs. Payload Mass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https://github.com/khoalee252006/spacex-falcon9-capstone/blob/main/notebooks/04_eda_visualization.ipynb</a:t>
            </a:r>
          </a:p>
        </p:txBody>
      </p:sp>
      <p:pic>
        <p:nvPicPr>
          <p:cNvPr id="7" name="Picture 6" descr="eda_01_flight_vs_pay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761" y="1280160"/>
            <a:ext cx="9284173" cy="43434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Later flights land more often (43% for flights 1–30 vs. 83% for flights 61–90). Heavy payloads (&gt; 10,000 kg) still landed 13 of 15 times.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INSIGHTS DRAWN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Flight Number vs.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https://github.com/khoalee252006/spacex-falcon9-capstone/blob/main/notebooks/04_eda_visualization.ipynb</a:t>
            </a:r>
          </a:p>
        </p:txBody>
      </p:sp>
      <p:pic>
        <p:nvPicPr>
          <p:cNvPr id="7" name="Picture 6" descr="eda_02_flight_vs_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46" y="1280160"/>
            <a:ext cx="10737601" cy="43434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CCAFS SLC 40 has the most launches (55) and the lowest rate (60%): its first 20 launches had 35% success, later ones 74%.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INSIGHTS DRAWN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Payload Mass vs.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https://github.com/khoalee252006/spacex-falcon9-capstone/blob/main/notebooks/04_eda_visualization.ipynb</a:t>
            </a:r>
          </a:p>
        </p:txBody>
      </p:sp>
      <p:pic>
        <p:nvPicPr>
          <p:cNvPr id="7" name="Picture 6" descr="eda_03_payload_vs_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10" y="1280160"/>
            <a:ext cx="10771274" cy="43434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VAFB SLC 4E never launched more than 9,600 kg. All payloads above 10,000 kg flew from Florida, with high success.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INSIGHTS DRAWN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Success Rate by Orbit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https://github.com/khoalee252006/spacex-falcon9-capstone/blob/main/notebooks/04_eda_visualization.ipynb</a:t>
            </a:r>
          </a:p>
        </p:txBody>
      </p:sp>
      <p:pic>
        <p:nvPicPr>
          <p:cNvPr id="7" name="Picture 6" descr="eda_04_success_by_or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952" y="1280160"/>
            <a:ext cx="9105790" cy="43434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SSO, ES-L1, GEO and HEO show 100% but have very few launches. Among common orbits, VLEO is best (86%, n=14) and GTO is weakest (52%, n=27).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INSIGHTS DRAWN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Flight Number vs. 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https://github.com/khoalee252006/spacex-falcon9-capstone/blob/main/notebooks/04_eda_visualization.ipynb</a:t>
            </a:r>
          </a:p>
        </p:txBody>
      </p:sp>
      <p:pic>
        <p:nvPicPr>
          <p:cNvPr id="7" name="Picture 6" descr="eda_05_flight_vs_or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633" y="1280160"/>
            <a:ext cx="8640429" cy="43434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LEO failed only in the first two flights, then always landed. GTO shows no clear improvement (52%). VLEO flights all came late and landed 86%.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INSIGHTS DRAWN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Payload Mass vs. 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https://github.com/khoalee252006/spacex-falcon9-capstone/blob/main/notebooks/04_eda_visualization.ipynb</a:t>
            </a:r>
          </a:p>
        </p:txBody>
      </p:sp>
      <p:pic>
        <p:nvPicPr>
          <p:cNvPr id="7" name="Picture 6" descr="eda_06_payload_vs_or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169" y="1280160"/>
            <a:ext cx="8671356" cy="43434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Heavy VLEO payloads (13,200–15,600 kg) land well. In GTO, heavier payloads land less often (62% for ≤ 5,000 kg vs. 43% for &gt; 5,000 kg).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INSIGHTS DRAWN FROM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Launch Success Yearly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https://github.com/khoalee252006/spacex-falcon9-capstone/blob/main/notebooks/04_eda_visualization.ipynb</a:t>
            </a:r>
          </a:p>
        </p:txBody>
      </p:sp>
      <p:pic>
        <p:nvPicPr>
          <p:cNvPr id="7" name="Picture 6" descr="eda_07_yearly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952" y="1280160"/>
            <a:ext cx="9105790" cy="43434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566928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Success rose from 0% (2010–2013) to 90% in 2019 (84% in 2020), with one dip in 2018 (61%).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EDA WITH SQL –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SQL Results: Launch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https://github.com/khoalee252006/spacex-falcon9-capstone/blob/main/notebooks/05_eda_sql.ipynb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3657600" cy="356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SELECT DISTINCT Launch_Site FROM SPACEXTABLE;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3931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Launch_Site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VAFB SLC-4E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KSC LC-39A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SLC-40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754880" y="1325880"/>
            <a:ext cx="6885432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399032"/>
            <a:ext cx="6611112" cy="5852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SELECT * FROM SPACEXTABLE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Consolas"/>
              </a:rPr>
              <a:t>WHERE Launch_Site LIKE 'CCA%' LIMIT 5;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54880" y="2194560"/>
          <a:ext cx="68854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048"/>
                <a:gridCol w="765048"/>
                <a:gridCol w="765048"/>
                <a:gridCol w="765048"/>
                <a:gridCol w="765048"/>
                <a:gridCol w="765048"/>
                <a:gridCol w="765048"/>
                <a:gridCol w="765048"/>
                <a:gridCol w="765048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Booster Version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 Site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Payload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PAYLOAD MASS  KG 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Orbit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Customer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Mission Outcome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Landing Outcome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2010-06-04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v1.0  B0003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Dragon Spacecraft Qualific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LEO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SpaceX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Failure (parachute)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2010-12-08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v1.0  B0004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Dragon demo flight C1, two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LEO (ISS)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NASA (COTS) NRO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Failure (parachute)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2012-05-22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v1.0  B0005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Dragon demo flight C2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525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LEO (ISS)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NASA (COTS)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No attempt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2012-10-08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v1.0  B0006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SpaceX CRS-1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LEO (ISS)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NASA (CRS)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No attempt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2013-03-01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v1.0  B0007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SpaceX CRS-2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677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LEO (ISS)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NASA (CRS)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No attempt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48640" y="5120640"/>
            <a:ext cx="11094415" cy="73152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82296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10774375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4 unique sites; the first 5 'CCA' launches (2010–2013) were early Dragon / CRS missions with no landing attempt or parachute failures.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EDA WITH SQL –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SQL Results: Payloads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https://github.com/khoalee252006/spacex-falcon9-capstone/blob/main/notebooks/05_eda_sql.ipynb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5212080" cy="5852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SUM(PAYLOAD_MASS__KG_) FROM SPACEXTABLE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WHERE Customer = 'NASA (CRS)';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486400" cy="1005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77D"/>
                </a:solidFill>
                <a:latin typeface="Segoe UI"/>
              </a:rPr>
              <a:t>Total payload – NASA (CRS)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0B2545"/>
                </a:solidFill>
                <a:latin typeface="Segoe UI"/>
              </a:rPr>
              <a:t>45,596 kg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7472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47872"/>
            <a:ext cx="5212080" cy="5852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AVG(PAYLOAD_MASS__KG_) FROM SPACEXTABLE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WHERE Booster_Version = 'F9 v1.1';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5486400" cy="1005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1206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77D"/>
                </a:solidFill>
                <a:latin typeface="Segoe UI"/>
              </a:rPr>
              <a:t>Average payload – F9 v1.1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0B2545"/>
                </a:solidFill>
                <a:latin typeface="Segoe UI"/>
              </a:rPr>
              <a:t>2,928.4 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5330952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99032"/>
            <a:ext cx="5056632" cy="7680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Booster_Version FROM SPACEXTABLE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WHERE PAYLOAD_MASS__KG_ =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  (SELECT MAX(PAYLOAD_MASS__KG_) FROM SPACEXTABLE);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53309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12 boosters carried the maximum payload of 15,600 kg: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09360" y="2743200"/>
          <a:ext cx="53309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476"/>
                <a:gridCol w="2665476"/>
              </a:tblGrid>
              <a:tr h="3291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Booster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 Booster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B1048.4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B1049.5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B1049.4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B1060.2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B1051.3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B1058.3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B1056.4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B1051.6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B1048.5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B1060.3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B1051.4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B5 B1049.7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EDA WITH SQL –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SQL Results: Success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https://github.com/khoalee252006/spacex-falcon9-capstone/blob/main/notebooks/05_eda_sql.ipynb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5212080" cy="5852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Mission_Outcome, COUNT(*) FROM SPACEXTABLE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GROUP BY Mission_Outcome;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9456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37160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Mission_Outcome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Failure (in flight)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98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 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 (payload status unclear)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114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512064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Grouped: </a:t>
            </a:r>
            <a:r>
              <a:rPr sz="1500" b="0">
                <a:solidFill>
                  <a:srgbClr val="1F2937"/>
                </a:solidFill>
                <a:latin typeface="Segoe UI"/>
              </a:rPr>
              <a:t>Success = 100,  Failure = 1  →  99.0% mission success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330952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99032"/>
            <a:ext cx="5056632" cy="7680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Booster_Version FROM SPACEXTABLE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WHERE Landing_Outcome = 'Success (drone ship)'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  AND PAYLOAD_MASS__KG_ &gt; 4000 AND PAYLOAD_MASS__KG_ &lt; 6000;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2377440"/>
          <a:ext cx="533095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476"/>
                <a:gridCol w="2665476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Booster Version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Payload kg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FT B1022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4696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FT B1026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4600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FT  B1021.2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5300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FT  B1031.2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5200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257800"/>
            <a:ext cx="82296" cy="685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77437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Mission success is very high (100 of 101), but booster landing is the hard part. Only F9 FT boosters landed on a drone ship with 4,000–6,000 kg payloads.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EDA WITH SQL –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SQL Results: Ranking Landing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https://github.com/khoalee252006/spacex-falcon9-capstone/blob/main/notebooks/05_eda_sql.ipynb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760720" cy="9601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5486400" cy="8138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Landing_Outcome, COUNT(*) AS Total FROM SPACEXTABLE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WHERE Date BETWEEN '2010-06-04' AND '2017-03-20'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GROUP BY Landing_Outcome ORDER BY Total DESC;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325880"/>
          <a:ext cx="5056632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1124712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Rank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Landing_Outcome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No attempt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 (drone ship)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Failure (drone ship)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Success (ground pad)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Controlled (ocean)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Uncontrolled (ocean)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Failure (parachute)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Precluded (drone ship)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2514600"/>
            <a:ext cx="5760720" cy="146304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82296" cy="14630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544068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In the early years, 'No attempt' was most common (10). Drone-ship landings were 50/50 (5 success vs. 5 failure), and ground-pad landings already worked (3 of 3).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EDA WITH SQL –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SQL Results: Time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https://github.com/khoalee252006/spacex-falcon9-capstone/blob/main/notebooks/05_eda_sql.ipynb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86400" cy="73152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99032"/>
            <a:ext cx="5212080" cy="5852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MIN(Date) FROM SPACEXTABLE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WHERE Landing_Outcome = 'Success (ground pad)';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48640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1206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77D"/>
                </a:solidFill>
                <a:latin typeface="Segoe UI"/>
              </a:rPr>
              <a:t>First successful ground-pad landing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22 December 2015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330952" cy="11430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99032"/>
            <a:ext cx="5056632" cy="99669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SELECT substr(Date,6,2) AS Month, Landing_Outcome,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       Booster_Version, Launch_Site FROM SPACEXTABLE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WHERE Landing_Outcome = 'Failure (drone ship)'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2E8F0"/>
                </a:solidFill>
                <a:latin typeface="Consolas"/>
              </a:rPr>
              <a:t>  AND substr(Date,1,4) = '2015';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2606040"/>
          <a:ext cx="5330952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190"/>
                <a:gridCol w="1066190"/>
                <a:gridCol w="1066190"/>
                <a:gridCol w="1066190"/>
                <a:gridCol w="1066192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name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Landing Outcome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Booster Version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 Site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January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Failure (drone ship)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v1.1 B1012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April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Failure (drone ship)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F9 v1.1 B1015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4206240"/>
            <a:ext cx="11094415" cy="86868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82296" cy="868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1077437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Both 2015 drone-ship failures were F9 v1.1 boosters from CCAFS LC-40 (January and April). Eight months later (Dec 2015) the first ground-pad landing succeeded.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LAUNCH SITES PROXIMITY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Folium: All Launch Sites on 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https://github.com/khoalee252006/spacex-falcon9-capstone/blob/main/notebooks/06_interactive_folium_map.ipynb</a:t>
            </a:r>
          </a:p>
        </p:txBody>
      </p:sp>
      <p:pic>
        <p:nvPicPr>
          <p:cNvPr id="7" name="Picture 6" descr="folium_1_launch_si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91589"/>
            <a:ext cx="5486400" cy="30861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pic>
        <p:nvPicPr>
          <p:cNvPr id="8" name="Picture 7" descr="folium_1b_launch_sites_flori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291589"/>
            <a:ext cx="5486400" cy="30861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C677D"/>
                </a:solidFill>
                <a:latin typeface="Segoe UI"/>
              </a:rPr>
              <a:t>All sites (USA)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443484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C677D"/>
                </a:solidFill>
                <a:latin typeface="Segoe UI"/>
              </a:rPr>
              <a:t>Cape Canaveral close-up (LC-40 and SLC-40 labels overlap: same pad area)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92040"/>
            <a:ext cx="11094415" cy="86868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92040"/>
            <a:ext cx="82296" cy="868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1077437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3 sites in Florida (CCAFS LC-40, CCAFS SLC-40, KSC LC-39A) and 1 in California (VAFB SLC-4E). All sit on the coast in the south of the USA – closer to the equator gives extra speed from Earth's rotation, and launches fly over the ocean.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LAUNCH SITES PROXIMITY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Folium: Launch Outcomes per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https://github.com/khoalee252006/spacex-falcon9-capstone/blob/main/notebooks/06_interactive_folium_map.ipynb</a:t>
            </a:r>
          </a:p>
        </p:txBody>
      </p:sp>
      <p:pic>
        <p:nvPicPr>
          <p:cNvPr id="7" name="Picture 6" descr="folium_2_launch_outco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63027"/>
            <a:ext cx="5394960" cy="3034665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pic>
        <p:nvPicPr>
          <p:cNvPr id="8" name="Picture 7" descr="folium_2b_launch_outcomes_ks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363027"/>
            <a:ext cx="5394960" cy="3034665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52628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C677D"/>
                </a:solidFill>
                <a:latin typeface="Segoe UI"/>
              </a:rPr>
              <a:t>MarkerCluster – number of launches per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4526280"/>
            <a:ext cx="5394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C677D"/>
                </a:solidFill>
                <a:latin typeface="Segoe UI"/>
              </a:rPr>
              <a:t>KSC LC-39A cluster opened – green = landed, red = not landed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64008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82296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0774375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KSC LC-39A: 10/13 landed (77%)  |  CCAFS SLC-40: 3/7 landed (43%)  |  VAFB SLC-4E: 4/10 landed (40%)  |  CCAFS LC-40: 7/26 landed (27%)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LAUNCH SITES PROXIMITY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Folium: Proximity Analysis (CCAFS SLC-40)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https://github.com/khoalee252006/spacex-falcon9-capstone/blob/main/notebooks/06_interactive_folium_map.ipynb</a:t>
            </a:r>
          </a:p>
        </p:txBody>
      </p:sp>
      <p:pic>
        <p:nvPicPr>
          <p:cNvPr id="7" name="Picture 6" descr="folium_3_proxim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91589"/>
            <a:ext cx="5486400" cy="30861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pic>
        <p:nvPicPr>
          <p:cNvPr id="8" name="Picture 7" descr="folium_3b_proximity_close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291589"/>
            <a:ext cx="5486400" cy="308610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40740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C677D"/>
                </a:solidFill>
                <a:latin typeface="Segoe UI"/>
              </a:rPr>
              <a:t>Overview: highway and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440740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C677D"/>
                </a:solidFill>
                <a:latin typeface="Segoe UI"/>
              </a:rPr>
              <a:t>Close-up: coastline and railway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754880"/>
          <a:ext cx="4937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377440"/>
                <a:gridCol w="137160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Nearest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 (OpenStreetMap)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Distance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Coastline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0.87 km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Railway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0.02 km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Highway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Space Commerce Way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11.17 km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Titusville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23.23 km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720" y="4709160"/>
            <a:ext cx="5879592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9D8F"/>
                </a:solidFill>
                <a:latin typeface="Segoe UI"/>
              </a:rPr>
              <a:t>Findings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Very close to the coast (0.87 km): a failed rocket falls into the ocean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Very close to a railway (0.02 km): heavy parts arrive by train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Highway 11.2 km away: road access for people and supplies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Nearest city (Titusville) 23.2 km away: far from people for safety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DASHBOARD WITH PLOTLY DASH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Dash: Successful Launches by Site (All Sites)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https://github.com/khoalee252006/spacex-falcon9-capstone/blob/main/notebooks/07_dash_app.py</a:t>
            </a:r>
          </a:p>
        </p:txBody>
      </p:sp>
      <p:pic>
        <p:nvPicPr>
          <p:cNvPr id="7" name="Picture 6" descr="dash_1_pie_all_si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04463"/>
            <a:ext cx="7589520" cy="3157632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21040" y="1463040"/>
          <a:ext cx="331927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850392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 Site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Successes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Share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KSC LC-39A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41.7%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29.2%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VAFB SLC-4E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16.7%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SLC-40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82296" cy="685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77840"/>
            <a:ext cx="1077437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KSC LC-39A produced the largest share of all successful launches (41.7%); CCAFS SLC-40 the smallest (12.5%).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DASHBOARD WITH PLOTLY DASH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Dash: Highest Success Rate Site – KSC LC-39A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https://github.com/khoalee252006/spacex-falcon9-capstone/blob/main/notebooks/07_dash_app.py</a:t>
            </a:r>
          </a:p>
        </p:txBody>
      </p:sp>
      <p:pic>
        <p:nvPicPr>
          <p:cNvPr id="7" name="Picture 6" descr="dash_2_pie_best_s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04463"/>
            <a:ext cx="7589520" cy="3157632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321040" y="1463040"/>
          <a:ext cx="331927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41832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 Site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Launches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Success rate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KSC LC-39A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76.9%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SLC-40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42.9%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VAFB SLC-4E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40.0%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CCAFS LC-40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26.9%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577840"/>
            <a:ext cx="82296" cy="685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77840"/>
            <a:ext cx="1077437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KSC LC-39A has the highest success rate: 10 of 13 launches (76.9% success, 23.1% failure).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DASHBOARD WITH PLOTLY DASH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Dash: Payload vs. Launch Outcome (All Sites)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https://github.com/khoalee252006/spacex-falcon9-capstone/blob/main/notebooks/07_dash_app.py</a:t>
            </a:r>
          </a:p>
        </p:txBody>
      </p:sp>
      <p:pic>
        <p:nvPicPr>
          <p:cNvPr id="7" name="Picture 6" descr="dash_4_scatter_low_pay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995" y="1234440"/>
            <a:ext cx="5274729" cy="219456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pic>
        <p:nvPicPr>
          <p:cNvPr id="8" name="Picture 7" descr="dash_5_scatter_high_pay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5995" y="3493008"/>
            <a:ext cx="5274729" cy="2194560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0" y="1280160"/>
          <a:ext cx="386791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43000"/>
                <a:gridCol w="1078992"/>
              </a:tblGrid>
              <a:tr h="31089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Payload (kg)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Launches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0–2,000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23%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2,000–4,000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4,000–6,000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38%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6,000–8,000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8,000–10,000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0" y="3337560"/>
          <a:ext cx="386791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43000"/>
                <a:gridCol w="1078992"/>
              </a:tblGrid>
              <a:tr h="31089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Booster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Launches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Success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55%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B5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FT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67%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v1.0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v1.1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76072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76072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Best payload range: 2,000–4,000 kg (62%, n = 21); worst: 6,000–8,000 kg (0 of 4). Best booster: FT (67%, n = 24); B5 is 1 of 1 (too few); v1.1 lowest (7%).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PREDICTIVE ANALYSIS (CLASSIFICATION)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Classification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https://github.com/khoalee252006/spacex-falcon9-capstone/blob/main/notebooks/08_predictive_analysis.ipynb</a:t>
            </a:r>
          </a:p>
        </p:txBody>
      </p:sp>
      <p:pic>
        <p:nvPicPr>
          <p:cNvPr id="7" name="Picture 6" descr="ml_accurac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66966"/>
            <a:ext cx="6400800" cy="2918226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371600"/>
          <a:ext cx="450799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731520"/>
                <a:gridCol w="1399032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10-fold CV (all 90)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82.0%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83.3% ± 12.4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SVM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84.8%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84.4% ± 10.2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83.4%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72.2%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78.9% ± 13.6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82.0%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81.1% ± 8.7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663440"/>
          <a:ext cx="1109167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988552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parameters (GridSearchCV)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C: 0.1, solver: lbfgs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SVM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C: 1, gamma: 0.0316, kernel: sigmoid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criterion: gini, max_depth: 10, max_features: sqrt, min_samples_leaf: 1, min_samples_split: 2, splitter: random</a:t>
                      </a:r>
                    </a:p>
                  </a:txBody>
                  <a:tcPr marL="54864" marR="54864" marT="18288" marB="18288" anchor="ctr"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KNN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Segoe UI"/>
                        </a:defRPr>
                      </a:pPr>
                      <a:r>
                        <a:t>algorithm: auto, n_neighbors: 7, p: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PREDICTIVE ANALYSIS (CLASSIFICATION)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https://github.com/khoalee252006/spacex-falcon9-capstone/blob/main/notebooks/08_predictive_analysis.ipynb</a:t>
            </a:r>
          </a:p>
        </p:txBody>
      </p:sp>
      <p:pic>
        <p:nvPicPr>
          <p:cNvPr id="7" name="Picture 6" descr="ml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9161"/>
            <a:ext cx="11094415" cy="2550956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526280"/>
            <a:ext cx="11094415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LR, SVM and KNN: </a:t>
            </a:r>
            <a:r>
              <a:rPr sz="1500" b="0">
                <a:solidFill>
                  <a:srgbClr val="1F2937"/>
                </a:solidFill>
                <a:latin typeface="Segoe UI"/>
              </a:rPr>
              <a:t>same matrix – TP = 12, TN = 3, FP = 3, FN = 0. Every landed booster is found (recall = 100%), but 3 of 6 non-landings are wrongly predicted as landed.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Decision Tree: </a:t>
            </a:r>
            <a:r>
              <a:rPr sz="1500" b="0">
                <a:solidFill>
                  <a:srgbClr val="1F2937"/>
                </a:solidFill>
                <a:latin typeface="Segoe UI"/>
              </a:rPr>
              <a:t>TP = 10, TN = 3, FP = 3, FN = 2 – it also misses 2 real landings.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623560"/>
            <a:ext cx="11094415" cy="65836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82296" cy="6583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774375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The main error is the false positive: the models are too optimistic about landing. For cost estimates this is the risky mistake (a bid would assume a reusable booster).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PREDICTIVE ANALYSIS (CLASSIFICATION)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Best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https://github.com/khoalee252006/spacex-falcon9-capstone/blob/main/notebooks/08_predictive_analysis.ipynb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4937760" cy="42062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44805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4A261"/>
                </a:solidFill>
                <a:latin typeface="Segoe UI"/>
              </a:rPr>
              <a:t>Selected model</a:t>
            </a:r>
          </a:p>
          <a:p>
            <a:pPr algn="l">
              <a:spcAft>
                <a:spcPts val="14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Support Vector Machine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Kernel: sigmoid, C = 1, gamma = 0.032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Validation accuracy: 84.8% (best of 4)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Test accuracy: 83.3% (tied best)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10-fold CV on all data: 84.4% (best of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371600"/>
            <a:ext cx="5788152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A9D8F"/>
                </a:solidFill>
                <a:latin typeface="Segoe UI"/>
              </a:rPr>
              <a:t>Why SVM – and an honest warning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Logistic Regression, SVM, KNN all score 83.3% on the test set: the same 15 of 18 correct.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With only 18 test launches, one prediction = 5.6 points, so the test set cannot separate these models.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SVM is highest on both validation (84.8%) and 10-fold CV on all 90 launches (84.4%).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But the CV spread is about ±10 points, so the gap to Logistic Regression (83.3%) is small.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Logistic Regression is a good simpler alternative.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9D8F"/>
                </a:solidFill>
                <a:latin typeface="Segoe UI"/>
              </a:rPr>
              <a:t>PREDICTIVE ANALYSIS (CLASSIFICATION)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What Really Drives Landing Success?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https://github.com/khoalee252006/spacex-falcon9-capstone/blob/main/notebooks/08_predictive_analysis.ipynb</a:t>
            </a:r>
          </a:p>
        </p:txBody>
      </p:sp>
      <p:pic>
        <p:nvPicPr>
          <p:cNvPr id="7" name="Picture 6" descr="ml_landing_driv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92128"/>
            <a:ext cx="7498079" cy="2667903"/>
          </a:xfrm>
          <a:prstGeom prst="rect">
            <a:avLst/>
          </a:prstGeom>
          <a:ln w="9525">
            <a:solidFill>
              <a:srgbClr val="D9DEE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229600" y="1325880"/>
            <a:ext cx="3410712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Class = 0: 30 launches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No landing attempt: 21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Attempt failed: 9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Attempted landings: 60 of 69 succeeded (87.0%)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Attempted, by Block: 1 = 40%, 2–4 = 100%, 5 = 92%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Reused booster: 78% vs. new: 58%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9160"/>
            <a:ext cx="11094415" cy="96012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82296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10774375" cy="960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Insight: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Most 'failures' are planned: 21 of 30 Class-0 launches had no landing attempt (12 of them GTO). Once SpaceX tries, it lands 87% of the time – so predicting the mission plan (orbit, payload) matters more than the landing itself.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49224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Experience matters: success rose from 0% (2010–2013) to 90% (2019); flights 61–90 land 83% vs. 43% for flights 1–30.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Orbit matters: VLEO 86%, ISS 62%, GTO only 52% (heavy GTO payloads are hardest).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Launch sites are all next to the coast, near rail, and far from cities; KSC LC-39A has the best success rate in the dashboard data (77%).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Payloads of 2,000–4,000 kg and FT boosters show the best success in the dashboard data.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500" b="0">
                <a:solidFill>
                  <a:srgbClr val="1F2937"/>
                </a:solidFill>
                <a:latin typeface="Segoe UI"/>
              </a:rPr>
              <a:t>LR, SVM and KNN reach 83.3% test accuracy; SVM is chosen (best validation / CV), but the small test set means the models are nearly equal.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25880"/>
            <a:ext cx="4325112" cy="4434840"/>
          </a:xfrm>
          <a:prstGeom prst="roundRect">
            <a:avLst>
              <a:gd name="adj" fmla="val 1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417320"/>
            <a:ext cx="3931920" cy="4297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F4A261"/>
                </a:solidFill>
                <a:latin typeface="Segoe UI"/>
              </a:rPr>
              <a:t>Creative insight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"Failure" is mostly a choice. 21 of 30 non-landings had no landing attempt; 12 of them were GTO missions.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This also explains the 2018 dip: 6 launches that year did not try to land.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When SpaceX tries, it lands 87% of the time.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Advice for Space Y: price a bid in two steps – (1) will SpaceX try to land for this orbit and payload? (2) if yes, expect the booster to be reused.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2545"/>
                </a:solidFill>
                <a:latin typeface="Segoe UI"/>
              </a:rPr>
              <a:t>Appendix: Data Sources and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C677D"/>
                </a:solidFill>
                <a:latin typeface="Segoe UI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0180015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A6F97"/>
                </a:solidFill>
                <a:latin typeface="Segoe UI"/>
                <a:hlinkClick r:id="rId2"/>
              </a:rPr>
              <a:t>GitHub: </a:t>
            </a:r>
            <a:r>
              <a:rPr sz="1100" b="0">
                <a:solidFill>
                  <a:srgbClr val="2A6F97"/>
                </a:solidFill>
                <a:latin typeface="Segoe UI"/>
                <a:hlinkClick r:id="rId2"/>
              </a:rPr>
              <a:t>https://github.com/khoalee252006/spacex-falcon9-capstone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SpaceX REST API v4 (api.spacexdata.com) – live server returned HTTP 522/525 in Oct 2026; used IBM static copy of /launches/past and archived API responses from web.archive.org (rockets, payloads, launchpads, cores).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Validation: our dataset_part_1.csv matches IBM's reference in 15 of 17 columns; small differences in PayloadMass and ReusedCount come from a newer API snapshot.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Wikipedia: List of Falcon 9 and Falcon Heavy launches, revision oldid = 1027686922.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IBM course files: Spacex.csv (SQL), spacex_launch_geo.csv (Folium), spacex_launch_dash.csv (Dash).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OpenStreetMap via Overpass API for nearest coastline, railway, highway and city (© OpenStreetMap contributors, ODbL). Note: the course file places KSC LC-39A slightly inland, so we show proximity for CCAFS SLC-40.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Tools: Python 3.12, pandas, numpy, requests, BeautifulSoup, matplotlib, seaborn, sqlite3, folium, plotly / Dash, scikit-learn, Playwright (screenshots).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 </a:t>
            </a:r>
            <a:r>
              <a:rPr sz="1400" b="0">
                <a:solidFill>
                  <a:srgbClr val="1F2937"/>
                </a:solidFill>
                <a:latin typeface="Segoe UI"/>
              </a:rPr>
              <a:t>Maps (interactive HTML): images/folium_1_launch_sites.html, folium_2_launch_outcomes.html, folium_3_proximity.html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